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CDD6F4"/>
                </a:solidFill>
              </a:rPr>
              <a:t>Average Monthly Demand (MW)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Demand (MW)</c:v>
                </c:pt>
              </c:strCache>
            </c:strRef>
          </c:tx>
          <c:spPr>
            <a:solidFill>
              <a:srgbClr val="89B4FA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13200</c:v>
                </c:pt>
                <c:pt idx="1">
                  <c:v>12700</c:v>
                </c:pt>
                <c:pt idx="2">
                  <c:v>11900</c:v>
                </c:pt>
                <c:pt idx="3">
                  <c:v>11200</c:v>
                </c:pt>
                <c:pt idx="4">
                  <c:v>11800</c:v>
                </c:pt>
                <c:pt idx="5">
                  <c:v>13100</c:v>
                </c:pt>
                <c:pt idx="6">
                  <c:v>14800</c:v>
                </c:pt>
                <c:pt idx="7">
                  <c:v>14600</c:v>
                </c:pt>
                <c:pt idx="8">
                  <c:v>12400</c:v>
                </c:pt>
                <c:pt idx="9">
                  <c:v>11600</c:v>
                </c:pt>
                <c:pt idx="10">
                  <c:v>12300</c:v>
                </c:pt>
                <c:pt idx="11">
                  <c:v>13600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CDD6F4"/>
                </a:solidFill>
              </a:rPr>
              <a:t>Yearly Average Demand (MW) — 2005 to 2025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Yearly Avg Demand (MW)</c:v>
                </c:pt>
              </c:strCache>
            </c:strRef>
          </c:tx>
          <c:spPr>
            <a:ln w="31750">
              <a:solidFill>
                <a:srgbClr val="A6E3A1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10800</c:v>
                </c:pt>
                <c:pt idx="1">
                  <c:v>10900</c:v>
                </c:pt>
                <c:pt idx="2">
                  <c:v>11100</c:v>
                </c:pt>
                <c:pt idx="3">
                  <c:v>11300</c:v>
                </c:pt>
                <c:pt idx="4">
                  <c:v>11200</c:v>
                </c:pt>
                <c:pt idx="5">
                  <c:v>10600</c:v>
                </c:pt>
                <c:pt idx="6">
                  <c:v>10300</c:v>
                </c:pt>
                <c:pt idx="7">
                  <c:v>10100</c:v>
                </c:pt>
                <c:pt idx="8">
                  <c:v>10200</c:v>
                </c:pt>
                <c:pt idx="9">
                  <c:v>10400</c:v>
                </c:pt>
                <c:pt idx="10">
                  <c:v>10500</c:v>
                </c:pt>
                <c:pt idx="11">
                  <c:v>10600</c:v>
                </c:pt>
                <c:pt idx="12">
                  <c:v>10800</c:v>
                </c:pt>
                <c:pt idx="13">
                  <c:v>10800</c:v>
                </c:pt>
                <c:pt idx="14">
                  <c:v>10800</c:v>
                </c:pt>
                <c:pt idx="15">
                  <c:v>10900</c:v>
                </c:pt>
                <c:pt idx="16">
                  <c:v>10700</c:v>
                </c:pt>
                <c:pt idx="17">
                  <c:v>10700</c:v>
                </c:pt>
                <c:pt idx="18">
                  <c:v>10900</c:v>
                </c:pt>
                <c:pt idx="19">
                  <c:v>12300</c:v>
                </c:pt>
                <c:pt idx="20">
                  <c:v>13500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CDD6F4"/>
                </a:solidFill>
              </a:rPr>
              <a:t>Monthly Demand vs Temperature (2023)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Demand (MW) — 2023</c:v>
                </c:pt>
              </c:strCache>
            </c:strRef>
          </c:tx>
          <c:spPr>
            <a:solidFill>
              <a:srgbClr val="89B4FA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13900</c:v>
                </c:pt>
                <c:pt idx="1">
                  <c:v>12800</c:v>
                </c:pt>
                <c:pt idx="2">
                  <c:v>11600</c:v>
                </c:pt>
                <c:pt idx="3">
                  <c:v>11100</c:v>
                </c:pt>
                <c:pt idx="4">
                  <c:v>11900</c:v>
                </c:pt>
                <c:pt idx="5">
                  <c:v>13200</c:v>
                </c:pt>
                <c:pt idx="6">
                  <c:v>15200</c:v>
                </c:pt>
                <c:pt idx="7">
                  <c:v>15000</c:v>
                </c:pt>
                <c:pt idx="8">
                  <c:v>12600</c:v>
                </c:pt>
                <c:pt idx="9">
                  <c:v>11400</c:v>
                </c:pt>
                <c:pt idx="10">
                  <c:v>12200</c:v>
                </c:pt>
                <c:pt idx="11">
                  <c:v>13800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CDD6F4"/>
                </a:solidFill>
              </a:rPr>
              <a:t>MAE (MW) — lower is better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(MW)</c:v>
                </c:pt>
              </c:strCache>
            </c:strRef>
          </c:tx>
          <c:spPr>
            <a:solidFill>
              <a:srgbClr val="89B4F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224.3</c:v>
                </c:pt>
                <c:pt idx="1">
                  <c:v>230.5</c:v>
                </c:pt>
                <c:pt idx="2">
                  <c:v>171.6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CDD6F4"/>
                </a:solidFill>
              </a:rPr>
              <a:t>Coverage % — higher is better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A6E3A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79.6</c:v>
                </c:pt>
                <c:pt idx="1">
                  <c:v>78.9</c:v>
                </c:pt>
                <c:pt idx="2">
                  <c:v>93.8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89B4FA"/>
                </a:solidFill>
                <a:latin typeface="Segoe UI"/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CDD6F4"/>
                </a:solidFill>
                <a:latin typeface="Segoe UI"/>
              </a:rPr>
              <a:t>Probabilistic Energy
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89B4FA"/>
                </a:solidFill>
                <a:latin typeface="Segoe UI"/>
              </a:rPr>
              <a:t>Dominion (DOM) Region  ·  Virginia / Washington DC  ·  2005–2025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794760"/>
            <a:ext cx="8686800" cy="36576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91363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6ADC8"/>
                </a:solidFill>
                <a:latin typeface="Segoe UI"/>
              </a:rPr>
              <a:t>XGBoost  ·  LightGBM  ·  LSTM (Quantile Regression)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Dawit Adane  ·  ML-1 Course Project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  <a:latin typeface="Segoe UI"/>
              </a:rPr>
              <a:t>Problem Statement &amp;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48640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94E2D5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3990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  <a:latin typeface="Segoe UI"/>
              </a:rPr>
              <a:t>Dataset &amp; Region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548640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81635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6E3A1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077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  <a:latin typeface="Segoe UI"/>
              </a:rPr>
              <a:t>Exploratory Data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43200"/>
            <a:ext cx="548640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81635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E2AF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077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  <a:latin typeface="Segoe UI"/>
              </a:rPr>
              <a:t>Feature Engineering &amp;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51960"/>
            <a:ext cx="548640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32511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B387"/>
                </a:solidFill>
                <a:latin typeface="Segoe U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165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  <a:latin typeface="Segoe UI"/>
              </a:rPr>
              <a:t>Results &amp; Model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51960"/>
            <a:ext cx="548640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32511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BA6F7"/>
                </a:solidFill>
                <a:latin typeface="Segoe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DD6F4"/>
                </a:solidFill>
                <a:latin typeface="Segoe UI"/>
              </a:rPr>
              <a:t>Future Forecast &amp;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Why forecast energy demand?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DD6F4"/>
                </a:solidFill>
                <a:latin typeface="Segoe UI"/>
              </a:rPr>
              <a:t>Traditional forecasting gives a single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6ADC8"/>
                </a:solidFill>
                <a:latin typeface="Segoe UI"/>
              </a:rPr>
              <a:t>We need to know: how confident are we — and what is the plausible range?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5577840" cy="1600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54864" cy="1600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  <a:latin typeface="Segoe UI"/>
              </a:rPr>
              <a:t>Grid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71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Must balance supply/demand in real time — under-forecast = blackouts, over-forecast = wasted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5577840" cy="1600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468880"/>
            <a:ext cx="54864" cy="160020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560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4E2D5"/>
                </a:solidFill>
                <a:latin typeface="Segoe UI"/>
              </a:rPr>
              <a:t>Utilities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971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Bid into electricity markets hours ahead — point forecasts lead to costly imbalance penalties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97680"/>
            <a:ext cx="5577840" cy="1600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54864" cy="1600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6E3A1"/>
                </a:solidFill>
                <a:latin typeface="Segoe UI"/>
              </a:rPr>
              <a:t>Planners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00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Capacity decisions made 5–10 years out require uncertainty ranges, not single numbers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577840" cy="1600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4864" cy="1600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E2AF"/>
                </a:solidFill>
                <a:latin typeface="Segoe UI"/>
              </a:rPr>
              <a:t>Researchers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800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Quantify how climate extremes and data center growth will stress the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Why Virginia / DC?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The world's largest data center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DD6F4"/>
                </a:solidFill>
                <a:latin typeface="Segoe UI"/>
              </a:rPr>
              <a:t>Dominion (DOM) covers the Richmond–Washington DC corridor,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DD6F4"/>
                </a:solidFill>
                <a:latin typeface="Segoe UI"/>
              </a:rPr>
              <a:t>home to the highest concentration of data centers on Earth.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  <a:latin typeface="Segoe UI"/>
              </a:rPr>
              <a:t>▸  Loudoun County ("Data Center Alley") hosts ~70% of global internet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157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  <a:latin typeface="Segoe UI"/>
              </a:rPr>
              <a:t>▸  Amazon AWS, Microsoft Azure, Google, Meta all operate hyperscale facilities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9125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  <a:latin typeface="Segoe UI"/>
              </a:rPr>
              <a:t>▸  These facilities run 24 / 7 — unlike residential demand, the load never fully drops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6674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  <a:latin typeface="Segoe UI"/>
              </a:rPr>
              <a:t>▸  Demand surged ~45% between 2020 and 2025, far exceeding national grid averages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188720"/>
            <a:ext cx="256032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325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8BA8"/>
                </a:solidFill>
                <a:latin typeface="Segoe UI"/>
              </a:rPr>
              <a:t>+45%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01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6ADC8"/>
                </a:solidFill>
                <a:latin typeface="Segoe UI"/>
              </a:rPr>
              <a:t>Demand growth
2020–2025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188720"/>
            <a:ext cx="256032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325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  <a:latin typeface="Segoe UI"/>
              </a:rPr>
              <a:t>~70%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901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6ADC8"/>
                </a:solidFill>
                <a:latin typeface="Segoe UI"/>
              </a:rPr>
              <a:t>Global internet
traffic routed through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560320"/>
            <a:ext cx="256032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6974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94E2D5"/>
                </a:solidFill>
                <a:latin typeface="Segoe UI"/>
              </a:rPr>
              <a:t>9,000+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73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6ADC8"/>
                </a:solidFill>
                <a:latin typeface="Segoe UI"/>
              </a:rPr>
              <a:t>MW floor demand
(3 AM, weekends)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560320"/>
            <a:ext cx="256032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6974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6E3A1"/>
                </a:solidFill>
                <a:latin typeface="Segoe UI"/>
              </a:rPr>
              <a:t>20 yrs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273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6ADC8"/>
                </a:solidFill>
                <a:latin typeface="Segoe UI"/>
              </a:rPr>
              <a:t>Historical data
2005 – 2025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303520"/>
            <a:ext cx="11430000" cy="914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E2AF"/>
                </a:solidFill>
                <a:latin typeface="Segoe UI"/>
              </a:rPr>
              <a:t>⚡  This makes DOM a uniquely challenging and important forecasting problem — conventional seasonal patterns are overlaid with a structural upward shift in baseload.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PJM Interconnection — Dominion (DOM) 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394960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  <a:latin typeface="Segoe UI"/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D6F4"/>
                </a:solidFill>
                <a:latin typeface="Segoe UI"/>
              </a:rPr>
              <a:t>Kaggle Historical (2005–2018)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  <a:latin typeface="Segoe UI"/>
              </a:rPr>
              <a:t>▸  DOM_hourly.csv — 122,112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  <a:latin typeface="Segoe UI"/>
              </a:rPr>
              <a:t>▸  Hourly MW readings for the DOM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D6F4"/>
                </a:solidFill>
                <a:latin typeface="Segoe UI"/>
              </a:rPr>
              <a:t>PJM Metered Data (2018–2025)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2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  <a:latin typeface="Segoe UI"/>
              </a:rPr>
              <a:t>▸  hrl_load_metered_YYYY.csv (8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58184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  <a:latin typeface="Segoe UI"/>
              </a:rPr>
              <a:t>▸  Official PJM settlement-quality MW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05656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  <a:latin typeface="Segoe UI"/>
              </a:rPr>
              <a:t>▸  Deduplicated &amp; concatenated with Kaggle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Segoe UI"/>
              </a:rPr>
              <a:t>Combined &amp; cleaned: ~175,000 hourly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143000"/>
            <a:ext cx="28346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2161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9B4FA"/>
                </a:solidFill>
                <a:latin typeface="Segoe UI"/>
              </a:rPr>
              <a:t>175,000+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288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Hourly observations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143000"/>
            <a:ext cx="28346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2161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94E2D5"/>
                </a:solidFill>
                <a:latin typeface="Segoe UI"/>
              </a:rPr>
              <a:t>20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8288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2005 –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715768"/>
            <a:ext cx="28346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7889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6E3A1"/>
                </a:solidFill>
                <a:latin typeface="Segoe UI"/>
              </a:rPr>
              <a:t>2005–2024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0156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Training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715768"/>
            <a:ext cx="28346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7889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E2AF"/>
                </a:solidFill>
                <a:latin typeface="Segoe UI"/>
              </a:rP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0156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Test set (unseen)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288536"/>
            <a:ext cx="28346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3616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BA6F7"/>
                </a:solidFill>
                <a:latin typeface="Segoe UI"/>
              </a:rPr>
              <a:t>2026–2030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9743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Future forecast horizon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288536"/>
            <a:ext cx="28346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43616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AB387"/>
                </a:solidFill>
                <a:latin typeface="Segoe UI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9743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Engineered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EDA: Demand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Systematic daily and seasonal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143000"/>
            <a:ext cx="425196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1887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  <a:latin typeface="Segoe UI"/>
              </a:rPr>
              <a:t>Summer 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5544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Jul–Aug highest demand
(air conditioning load)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560320"/>
            <a:ext cx="425196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60603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  <a:latin typeface="Segoe UI"/>
              </a:rPr>
              <a:t>Winter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9718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Jan–Feb second highest
(space heating)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977639"/>
            <a:ext cx="425196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402335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  <a:latin typeface="Segoe UI"/>
              </a:rPr>
              <a:t>Spring dip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38912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Mar–May lowest demand
(mild temperatures)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5394960"/>
            <a:ext cx="425196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5440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  <a:latin typeface="Segoe UI"/>
              </a:rPr>
              <a:t>Dual seasonality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58064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U-shaped temperature–
demand relationship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EDA: Rising Baseload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Data center fingerprint in the demand data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7498079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097280"/>
            <a:ext cx="370332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E2D5"/>
                </a:solidFill>
                <a:latin typeface="Segoe UI"/>
              </a:rPr>
              <a:t>2005–2019: Flat / declining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  <a:latin typeface="Segoe UI"/>
              </a:rPr>
              <a:t>Energy efficiency gains offset
population + economic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514600"/>
            <a:ext cx="3703320" cy="12344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  <a:latin typeface="Segoe UI"/>
              </a:rPr>
              <a:t>2019–2020: Brief COVID dip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971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  <a:latin typeface="Segoe UI"/>
              </a:rPr>
              <a:t>Commercial/industrial load
drops during lockdowns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931920"/>
            <a:ext cx="3703320" cy="18288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  <a:latin typeface="Segoe UI"/>
              </a:rPr>
              <a:t>2020–2025: Surge (+45%)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40740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Hyperscale data center
buildout in Northern Virginia
Amazon, Microsoft, Google,
Meta — all expanding rapidly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EDA: Weather &amp; Demand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Temperature drives both heating and cooling 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394960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  <a:latin typeface="Segoe UI"/>
              </a:rPr>
              <a:t>Temperature vs Demand (2023)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  <a:latin typeface="Segoe UI"/>
              </a:rPr>
              <a:t>Open-Meteo archive API · Washington DC (38.89°N, 77.04°W)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Scatter: Hourly temperature (°F) vs demand (MW)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0292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Below ~55°F: demand rises as heating kicks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36392"/>
            <a:ext cx="50292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Above ~70°F: demand rises as A/C load increases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75304"/>
            <a:ext cx="50292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55–70°F is the 'comfort zone' — lowest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14216"/>
            <a:ext cx="50292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Pearson correlation ≈ +0.31 (linear, masking U-shape)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029200" cy="118872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9E2AF"/>
                </a:solidFill>
                <a:latin typeface="Segoe UI"/>
              </a:rPr>
              <a:t>⚡  Data center load is temperature-insensitive — it creates a raised
floor (~9,000 MW) that is visible even at mild temperatures.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943600" y="114300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5989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E2D5"/>
                </a:solidFill>
                <a:latin typeface="Segoe UI"/>
              </a:rPr>
              <a:t>🌡 Temperature trend (°F): 38→85→41 — peaks Jul/Aug matching demand peak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21 features capturing time, calendar, and lag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623560" cy="23317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623560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  <a:latin typeface="Segoe UI"/>
              </a:rPr>
              <a:t>Time of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hour (0–23)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hour_sin, hour_cos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(cyclical encoding)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5623560" cy="23317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623560" cy="64008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4E2D5"/>
                </a:solidFill>
                <a:latin typeface="Segoe UI"/>
              </a:rPr>
              <a:t>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dayofweek (0–6)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month (1–12)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quarter, dayofyear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71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weekofyear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is_weekend 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is_holiday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657600"/>
            <a:ext cx="5623560" cy="23317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623560" cy="6400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  <a:latin typeface="Segoe UI"/>
              </a:rPr>
              <a:t>Lag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51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lag_1h  (previous hour)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lag_24h  (yesterday same hour)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lag_168h  (last week)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657600"/>
            <a:ext cx="5623560" cy="23317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657600"/>
            <a:ext cx="5623560" cy="6400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94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  <a:latin typeface="Segoe UI"/>
              </a:rPr>
              <a:t>Rolling 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51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roll_mean_24h  (last 24h avg)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63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roll_std_24h  (last 24h σ)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74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roll_mean_168h  (last week avg)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864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roll_std_168h  (last week σ)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6217920"/>
            <a:ext cx="11430000" cy="50292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2819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  <a:latin typeface="Segoe UI"/>
              </a:rPr>
              <a:t>Cyclical encoding (sin/cos) ensures the model understands that hour 23 is adjacent to hour 0 — no ordinal jump at day boundaries.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Probabilistic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Prediction intervals — not just a single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486400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  <a:latin typeface="Segoe UI"/>
              </a:rPr>
              <a:t>What is Quantile Regression?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2120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▸  Train three separate models on Q10, Q50, Q90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2120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▸  Q50 = median forecast (like MAE-minimizing)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52120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▸  Q10 = lower bound (10% of actuals fall below)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52120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▸  Q90 = upper bound (90% of actuals fall below)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93008"/>
            <a:ext cx="52120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▸  Q10–Q90 band = 80% prediction interval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E2D5"/>
                </a:solidFill>
                <a:latin typeface="Segoe UI"/>
              </a:rPr>
              <a:t>Loss Function: Pinball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DD6F4"/>
                </a:solidFill>
                <a:latin typeface="Segoe UI"/>
              </a:rPr>
              <a:t>For quantile q:  L = (y − ŷ) × q   if y ≥ ŷ
                         = (ŷ − y) × (1−q)  if y &lt; 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143000"/>
            <a:ext cx="5760720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  <a:latin typeface="Segoe UI"/>
              </a:rPr>
              <a:t>Why Intervals 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  <a:latin typeface="Segoe UI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830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We target 80% — the actual demand
should fall inside the band 80% of the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  <a:latin typeface="Segoe UI"/>
              </a:rPr>
              <a:t>Width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346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Narrow = high confidence.
Wide = high uncertainty (e.g. extreme weather)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886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  <a:latin typeface="Segoe UI"/>
              </a:rPr>
              <a:t>Grid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88620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Operators reserve spinning capacity
based on the upper bound (Q90)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93775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  <a:latin typeface="Segoe UI"/>
              </a:rPr>
              <a:t>Risk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3775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Utilities can quantify worst-case
costs without overbuilding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Three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Gradient boosting and deep learning for quantile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49039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49039" cy="6400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AB387"/>
                </a:solidFill>
                <a:latin typeface="Segoe UI"/>
              </a:rPr>
              <a:t>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Extreme Gradient Boosting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2432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Shallow trees, strong regularization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7413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Trained separately for Q10/Q50/Q90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2394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Fastest training &amp;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73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Baseline — well-established 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3749039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749039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618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9B4FA"/>
                </a:solidFill>
                <a:latin typeface="Segoe UI"/>
              </a:rPr>
              <a:t>LightGBM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Light Gradient Boosting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2432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Leaf-wise tree growth (faster than XGBoost)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7413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Histogram-based — handles large datasets well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2394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Deployed in Streamlit app for live 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873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Powers the 5-year recursive forecast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143000"/>
            <a:ext cx="3749039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143000"/>
            <a:ext cx="3749039" cy="6400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2618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6E3A1"/>
                </a:solidFill>
                <a:latin typeface="Segoe UI"/>
              </a:rP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Long Short-Term Memory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2432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Sliding window: 168 hours (1 week) of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7413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3-output head: Q10, Q50, Q90 simultaneously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2394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Captures long-range temporal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73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Best MAE — most accurate model overall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Train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Time-based split — no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1247120" cy="82296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595360" cy="822960"/>
          </a:xfrm>
          <a:prstGeom prst="round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D6F4"/>
                </a:solidFill>
                <a:latin typeface="Segoe UI"/>
              </a:rPr>
              <a:t>TRAIN  2005–2024  (20 years · ~153,000 observations)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2560320" cy="822960"/>
          </a:xfrm>
          <a:prstGeom prst="roundRect">
            <a:avLst/>
          </a:prstGeom>
          <a:solidFill>
            <a:srgbClr val="74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22677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  <a:latin typeface="Segoe UI"/>
              </a:rPr>
              <a:t>TEST 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  <a:latin typeface="Segoe UI"/>
              </a:rPr>
              <a:t>2005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27432" cy="228600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  <a:latin typeface="Segoe UI"/>
              </a:rPr>
              <a:t>2010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926080"/>
            <a:ext cx="27432" cy="228600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  <a:latin typeface="Segoe UI"/>
              </a:rPr>
              <a:t>2015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926080"/>
            <a:ext cx="27432" cy="228600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  <a:latin typeface="Segoe UI"/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926080"/>
            <a:ext cx="27432" cy="228600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  <a:latin typeface="Segoe UI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926080"/>
            <a:ext cx="27432" cy="228600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  <a:latin typeface="Segoe UI"/>
              </a:rPr>
              <a:t>2026+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0" y="2926080"/>
            <a:ext cx="27432" cy="228600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520440"/>
            <a:ext cx="5486400" cy="2514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301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  <a:latin typeface="Segoe UI"/>
              </a:rPr>
              <a:t>Why 2025 as test year?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2025 data exists — used as true holdout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Models never saw 2025 during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Evaluates generalization to unseen future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20440"/>
            <a:ext cx="5486400" cy="2514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6301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6E3A1"/>
                </a:solidFill>
                <a:latin typeface="Segoe UI"/>
              </a:rPr>
              <a:t>Why train through 2024?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Earlier split would waste recent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Data center surge (2020–2025) is in train 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Model learns the new higher baseload regime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Model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Full 2025 test set — 8,760 hourly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  <a:latin typeface="Segoe U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188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  <a:latin typeface="Segoe UI"/>
              </a:rPr>
              <a:t>MAE (MW)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88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  <a:latin typeface="Segoe UI"/>
              </a:rPr>
              <a:t>Avg Pinball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188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  <a:latin typeface="Segoe UI"/>
              </a:rPr>
              <a:t>Coverage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188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  <a:latin typeface="Segoe UI"/>
              </a:rPr>
              <a:t>Interval (MW)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64208"/>
            <a:ext cx="11430000" cy="548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B387"/>
                </a:solidFill>
                <a:latin typeface="Segoe UI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224.3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73.0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79.6%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7556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687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11430000" cy="548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9B4FA"/>
                </a:solidFill>
                <a:latin typeface="Segoe UI"/>
              </a:rPr>
              <a:t>LightGBM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3500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230.5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500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73.7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3500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78.9%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350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698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52928"/>
            <a:ext cx="11430000" cy="5486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443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  <a:latin typeface="Segoe UI"/>
              </a:rPr>
              <a:t>LSTM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9443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  <a:latin typeface="Segoe UI"/>
              </a:rPr>
              <a:t>171.6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9443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  <a:latin typeface="Segoe UI"/>
              </a:rPr>
              <a:t>58.8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9443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  <a:latin typeface="Segoe UI"/>
              </a:rPr>
              <a:t>93.8%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443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  <a:latin typeface="Segoe UI"/>
              </a:rPr>
              <a:t>822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154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Segoe UI"/>
              </a:rPr>
              <a:t>★  LSTM achieves best MAE and pinball loss. Wider interval reflects higher coverage (93.8% vs 80% target).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365760" y="3657600"/>
          <a:ext cx="530352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035040" y="3657600"/>
          <a:ext cx="557784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Prediction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80% confidence band around Q50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1430000" cy="43891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  <a:latin typeface="Segoe UI"/>
              </a:rPr>
              <a:t>← The Streamlit app shows interactive plots like this for any selected week in 2025: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54864"/>
          </a:xfrm>
          <a:prstGeom prst="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10698480" cy="1828800"/>
          </a:xfrm>
          <a:prstGeom prst="rect">
            <a:avLst/>
          </a:prstGeom>
          <a:solidFill>
            <a:srgbClr val="26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1488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B4FA"/>
                </a:solidFill>
                <a:latin typeface="Segoe UI"/>
              </a:rPr>
              <a:t>80% Prediction Interval (Q10 to Q90)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0243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93628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3196419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3390274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964778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2943017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574403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86200" y="2531657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377655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2544635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552123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2798950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940328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2999840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3191869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9560" y="3118960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3079699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3156941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2705066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21240" y="2956870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0" y="2406121"/>
            <a:ext cx="960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27080" y="2556767"/>
            <a:ext cx="82296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690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9B4FA"/>
                </a:solidFill>
                <a:latin typeface="Segoe UI"/>
              </a:rPr>
              <a:t>── Q50 Forecast (LightGBM/LSTM)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0690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8BA8"/>
                </a:solidFill>
                <a:latin typeface="Segoe UI"/>
              </a:rPr>
              <a:t>·· · Actual Demand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669280"/>
            <a:ext cx="3749039" cy="1051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42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  <a:latin typeface="Segoe UI"/>
              </a:rPr>
              <a:t>Winter week
Jan 6–12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539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Sharp morning ramp;
model tracks well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5669280"/>
            <a:ext cx="3749039" cy="1051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742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  <a:latin typeface="Segoe UI"/>
              </a:rPr>
              <a:t>Summer peak
Jul 7–13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61539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Sustained afternoon plateau;
wider intervals reflect A/C uncertainty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5669280"/>
            <a:ext cx="3749039" cy="10515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5742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  <a:latin typeface="Segoe UI"/>
              </a:rPr>
              <a:t>Holiday week
Dec 17–25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61539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Demand drop on Dec 25;
holiday flag captures the drop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Key Finding: Data Center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A structural shift hidden in the demand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1417320"/>
          </a:xfrm>
          <a:prstGeom prst="roundRect">
            <a:avLst/>
          </a:prstGeom>
          <a:solidFill>
            <a:srgbClr val="2A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64008" cy="14173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E2AF"/>
                </a:solidFill>
                <a:latin typeface="Segoe UI"/>
              </a:rPr>
              <a:t>Average demand grew from ~10,700 MW (2019) to ~13,500 MW (2025) — a +26% structural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DD6F4"/>
                </a:solidFill>
                <a:latin typeface="Segoe UI"/>
              </a:rPr>
              <a:t>This is not seasonal variation. This is always-on compute load from data centers.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80360"/>
            <a:ext cx="5623560" cy="15087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54864" cy="150876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71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E2D5"/>
                </a:solidFill>
                <a:latin typeface="Segoe UI"/>
              </a:rPr>
              <a:t>Flat 3AM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1071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~9,000 MW minimum even at 3 AM on holiday weekends — residential + commercial demand alone cannot explain this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80360"/>
            <a:ext cx="5623560" cy="15087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880360"/>
            <a:ext cx="54864" cy="15087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971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  <a:latin typeface="Segoe UI"/>
              </a:rPr>
              <a:t>Smaller weekend dip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41071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Traditional grids see 15–25% demand drop on weekends. DOM's weekend dip is shrinking — data centers don't take Sundays 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572000"/>
            <a:ext cx="5623560" cy="15087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54864" cy="15087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663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  <a:latin typeface="Segoe UI"/>
              </a:rPr>
              <a:t>Higher low-temperature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023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Even in mild spring weather (55°F), DOM demand rarely drops below 10,000 MW. Historical data showed 8,500 MW lows — the floor has risen.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72000"/>
            <a:ext cx="5623560" cy="15087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572000"/>
            <a:ext cx="54864" cy="150876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663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BA6F7"/>
                </a:solidFill>
                <a:latin typeface="Segoe UI"/>
              </a:rPr>
              <a:t>Forecast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1023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Models trained only on pre-2020 data severely under-forecast present demand. Training through 2024 ensures the model has learned the new regime.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Future Forecast: 2026–2030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Recursive LightGBM — 43,824 hourly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486400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  <a:latin typeface="Segoe UI"/>
              </a:rPr>
              <a:t>Recursive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Seed with last 200 known hourly values (Dec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Predict step t+1 using lag features from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8833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Append Q50 prediction to history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Repeat for 43,824 steps (2026-01-01 to 2030-12-31)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93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Prediction intervals preserved throughout (Q10/Q90)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E2D5"/>
                </a:solidFill>
                <a:latin typeface="Segoe UI"/>
              </a:rPr>
              <a:t>Pre-generated &amp; cached as parquet: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Loads instantly on every app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Deterministic — same result each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229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▸  ~1.5 MB file in the repo (Git LFS)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143000"/>
            <a:ext cx="5760720" cy="50292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  <a:latin typeface="Segoe UI"/>
              </a:rPr>
              <a:t>Projected Ranges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828800"/>
            <a:ext cx="5577840" cy="82296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01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Peak Q50 (summer)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87451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38BA8"/>
                </a:solidFill>
                <a:latin typeface="Segoe UI"/>
              </a:rPr>
              <a:t>~20,600 MW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834640"/>
            <a:ext cx="5577840" cy="82296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907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Min Q50 (spring 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94E2D5"/>
                </a:solidFill>
                <a:latin typeface="Segoe UI"/>
              </a:rPr>
              <a:t>~9,600 MW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40480"/>
            <a:ext cx="5577840" cy="82296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913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Avg uncertainty band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886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89B4FA"/>
                </a:solidFill>
                <a:latin typeface="Segoe UI"/>
              </a:rPr>
              <a:t>~2,000 MW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46320"/>
            <a:ext cx="5577840" cy="822960"/>
          </a:xfrm>
          <a:prstGeom prst="roundRect">
            <a:avLst/>
          </a:prstGeom>
          <a:solidFill>
            <a:srgbClr val="45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919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Horizon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892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9E2AF"/>
                </a:solidFill>
                <a:latin typeface="Segoe UI"/>
              </a:rPr>
              <a:t>1,825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5029200"/>
            <a:ext cx="5760720" cy="1143000"/>
          </a:xfrm>
          <a:prstGeom prst="roundRect">
            <a:avLst/>
          </a:prstGeom>
          <a:solidFill>
            <a:srgbClr val="2A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  <a:latin typeface="Segoe UI"/>
              </a:rPr>
              <a:t>⚠  Long-horizon caveats: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468112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  <a:latin typeface="Segoe UI"/>
              </a:rPr>
              <a:t>Intervals widen due to cumulative lag uncertainty. Seasonal structure is reliable; absolute MW levels are projections.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Live Demo — Streamlit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ADC8"/>
                </a:solidFill>
                <a:latin typeface="Segoe UI"/>
              </a:rPr>
              <a:t>Interactive probabilistic forecast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822960"/>
          </a:xfrm>
          <a:prstGeom prst="round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9B4FA"/>
                </a:solidFill>
                <a:latin typeface="Segoe UI"/>
              </a:rPr>
              <a:t>⚡  https://energy-demand-forecasting-ml.streamlit.app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40280"/>
            <a:ext cx="11430000" cy="7315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  <a:latin typeface="Segoe UI"/>
              </a:rPr>
              <a:t>📊 Model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1343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Select any week in 2025, choose LightGBM / LSTM / XGBoost, view forecast vs actual with 80% intervals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044952"/>
            <a:ext cx="11430000" cy="7315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1810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4E2D5"/>
                </a:solidFill>
                <a:latin typeface="Segoe UI"/>
              </a:rPr>
              <a:t>🏆 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18104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Side-by-side metrics table and bar charts; summer peak week comparison for both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9624"/>
            <a:ext cx="11430000" cy="7315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2277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  <a:latin typeface="Segoe UI"/>
              </a:rPr>
              <a:t>🔍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2277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Hourly / daily / monthly / yearly demand patterns; weather-demand relationship charts (2023 DC data)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654296"/>
            <a:ext cx="11430000" cy="7315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274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  <a:latin typeface="Segoe UI"/>
              </a:rPr>
              <a:t>🔮 Future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72744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Date range picker for 2026–2030 with quick select; recursive LightGBM Q10/Q50/Q90 bands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458968"/>
            <a:ext cx="11430000" cy="7315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  <a:latin typeface="Segoe UI"/>
              </a:rPr>
              <a:t>ℹ️ About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53212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  <a:latin typeface="Segoe UI"/>
              </a:rPr>
              <a:t>Project overview, dataset details, model descriptions, performance table, and key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ADC8"/>
                </a:solidFill>
                <a:latin typeface="Segoe UI"/>
              </a:rPr>
              <a:t>All predictions pre-cached · Loads in &lt; 2 seconds · No API keys required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DD6F4"/>
                </a:solidFill>
                <a:latin typeface="Segoe UI"/>
              </a:rPr>
              <a:t>Conclusions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7498079" cy="914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4864" cy="914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  <a:latin typeface="Segoe UI"/>
              </a:rPr>
              <a:t>Probabilistic &gt; point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91056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Quantile regression provides actionable uncertainty ranges — critical for grid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12848"/>
            <a:ext cx="7498079" cy="914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54864" cy="914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49424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  <a:latin typeface="Segoe UI"/>
              </a:rPr>
              <a:t>LSTM wins 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33472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171.6 MW MAE vs 224+ for tree models; 1-week sliding window captures temporal 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55263"/>
            <a:ext cx="7498079" cy="914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255263"/>
            <a:ext cx="54864" cy="91440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91839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E2D5"/>
                </a:solidFill>
                <a:latin typeface="Segoe UI"/>
              </a:rPr>
              <a:t>LightGBM wins on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75887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Instant inference, recursive 5-year capability, ideal for production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97680"/>
            <a:ext cx="7498079" cy="914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54864" cy="9144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334256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  <a:latin typeface="Segoe UI"/>
              </a:rPr>
              <a:t>Data centers are reshaping the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18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The +45% demand surge in DOM is a fingerprint of hyperscale growth — not seasonal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340096"/>
            <a:ext cx="7498079" cy="914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340096"/>
            <a:ext cx="54864" cy="9144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376672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A6F7"/>
                </a:solidFill>
                <a:latin typeface="Segoe UI"/>
              </a:rPr>
              <a:t>Feature engineering is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Lag features, rolling statistics, cyclical encoding give models the temporal context they need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170432"/>
            <a:ext cx="3703320" cy="37947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261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AB387"/>
                </a:solidFill>
                <a:latin typeface="Segoe UI"/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▸  Add weather forecasts as live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▸  Transformer / Temporal Fusion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▸  Incorporate data center capacity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▸  Real-time PJM API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▸  Multi-region forecast (PJM-wide)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97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  <a:latin typeface="Segoe UI"/>
              </a:rPr>
              <a:t>▸  Anomaly detection for extreme events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0" y="6144768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DD6F4"/>
                </a:solidFill>
                <a:latin typeface="Segoe UI"/>
              </a:rPr>
              <a:t>Thank you  ·  Dawit Adane  ·  ML-1 Course Project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144768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9B4FA"/>
                </a:solidFill>
                <a:latin typeface="Segoe UI"/>
              </a:rPr>
              <a:t>⚡  energy-demand-forecasting-ml.streamlit.app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